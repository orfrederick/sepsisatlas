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2-DAY HACKATHON BUILD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Sepsis Atlas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evidence database for sepsis research, with per-row bbox anchors.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703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83280" y="3703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83280" y="4297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cohorts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35040" y="3703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2,394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035040" y="4297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rows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Bierbyte</a:t>
            </a:r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Frederick Ortmanns   ·   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Sepsis is severe. The research is scattered.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87452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is a leading global cause of ICU mortality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Decades of research, thousands of papers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sizes buried in tables, figures, supplements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pooling is slow and hard to audit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777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Bierbyte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Sepsis Atlas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each piece comes from.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Schema-guided extraction — document → table.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61772" y="2148840"/>
            <a:ext cx="19659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1772" y="2148840"/>
            <a:ext cx="196596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626364" y="2331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26364" y="2788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DB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6364" y="32004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+ verified rows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46604" y="2148840"/>
            <a:ext cx="19659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46604" y="2148840"/>
            <a:ext cx="196596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2711196" y="2331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711196" y="2788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DB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11196" y="32004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· bbox · verbatim quote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31436" y="2148840"/>
            <a:ext cx="19659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31436" y="2148840"/>
            <a:ext cx="196596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4796028" y="2331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796028" y="2788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code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96028" y="32004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not from an LLM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16268" y="2148840"/>
            <a:ext cx="19659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16268" y="2148840"/>
            <a:ext cx="196596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6880860" y="2331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880860" y="2788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once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80860" y="32004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thereafter are free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never computes a number. LLM never cites a source it didn't see.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7777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Bierbyte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Sepsis Atlas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7240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— ingest once, query freely.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80644" y="1783080"/>
            <a:ext cx="5733288" cy="1965960"/>
          </a:xfrm>
          <a:prstGeom prst="rect">
            <a:avLst/>
          </a:prstGeom>
          <a:solidFill>
            <a:srgbClr val="F1F5F4"/>
          </a:solidFill>
          <a:ln/>
        </p:spPr>
      </p:sp>
      <p:sp>
        <p:nvSpPr>
          <p:cNvPr id="5" name="Shape 3"/>
          <p:cNvSpPr/>
          <p:nvPr/>
        </p:nvSpPr>
        <p:spPr>
          <a:xfrm>
            <a:off x="6204204" y="1783080"/>
            <a:ext cx="2359152" cy="1965960"/>
          </a:xfrm>
          <a:prstGeom prst="rect">
            <a:avLst/>
          </a:prstGeom>
          <a:solidFill>
            <a:srgbClr val="E0F2EF"/>
          </a:solidFill>
          <a:ln/>
        </p:spPr>
      </p:sp>
      <p:sp>
        <p:nvSpPr>
          <p:cNvPr id="6" name="Text 4"/>
          <p:cNvSpPr/>
          <p:nvPr/>
        </p:nvSpPr>
        <p:spPr>
          <a:xfrm>
            <a:off x="580644" y="1828800"/>
            <a:ext cx="5733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 ·  ONCE PER PAPER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04204" y="18288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 ·  ONCE PER QUESTION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17804" y="2194560"/>
            <a:ext cx="960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33272" y="2304288"/>
            <a:ext cx="329184" cy="329184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" y="26700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82496" y="2359152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72084" y="3154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842516" y="2194560"/>
            <a:ext cx="960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57984" y="2304288"/>
            <a:ext cx="329184" cy="329184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16" name="Text 14"/>
          <p:cNvSpPr/>
          <p:nvPr/>
        </p:nvSpPr>
        <p:spPr>
          <a:xfrm>
            <a:off x="2157984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842516" y="26700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807208" y="2359152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796796" y="3154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4.6 · multilingual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967228" y="2194560"/>
            <a:ext cx="960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2696" y="2304288"/>
            <a:ext cx="329184" cy="329184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22" name="Text 20"/>
          <p:cNvSpPr/>
          <p:nvPr/>
        </p:nvSpPr>
        <p:spPr>
          <a:xfrm>
            <a:off x="3282696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67228" y="26700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31920" y="2359152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2921508" y="3154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(deterministic)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091940" y="2194560"/>
            <a:ext cx="960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07408" y="2304288"/>
            <a:ext cx="329184" cy="329184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28" name="Text 26"/>
          <p:cNvSpPr/>
          <p:nvPr/>
        </p:nvSpPr>
        <p:spPr>
          <a:xfrm>
            <a:off x="4407408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091940" y="26700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56632" y="2359152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046220" y="3154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+ Haiku judge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216652" y="2194560"/>
            <a:ext cx="960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32120" y="2304288"/>
            <a:ext cx="329184" cy="329184"/>
          </a:xfrm>
          <a:prstGeom prst="ellipse">
            <a:avLst/>
          </a:prstGeom>
          <a:solidFill>
            <a:srgbClr val="36454F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216652" y="26700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70932" y="3154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341364" y="2194560"/>
            <a:ext cx="960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56832" y="2304288"/>
            <a:ext cx="329184" cy="32918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9" name="Text 37"/>
          <p:cNvSpPr/>
          <p:nvPr/>
        </p:nvSpPr>
        <p:spPr>
          <a:xfrm>
            <a:off x="6656832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341364" y="26700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306056" y="2359152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6295644" y="3154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 + ST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66076" y="2194560"/>
            <a:ext cx="960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781544" y="2304288"/>
            <a:ext cx="329184" cy="32918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5" name="Text 43"/>
          <p:cNvSpPr/>
          <p:nvPr/>
        </p:nvSpPr>
        <p:spPr>
          <a:xfrm>
            <a:off x="7781544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466076" y="26700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20356" y="3154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PDF.js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259068" y="1920240"/>
            <a:ext cx="0" cy="169164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6030468" y="3474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paper is in the DB, queries are free — no LLM at runtime unless you want NL parsing.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7777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Bierbyte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Sepsis Atlas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77240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45336"/>
            <a:ext cx="329184" cy="32918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45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1508760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Bbox-per-token parsing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801368"/>
            <a:ext cx="7726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 JSON, per-token bboxes — any extracted span maps to (page, bbox).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329184" cy="32918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139696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Two-pass LLM extraction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432304"/>
            <a:ext cx="7726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1 cohorts, pass 2 predictors. Multilingual native.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07208"/>
            <a:ext cx="329184" cy="32918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2770632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anchor resolution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3063240"/>
            <a:ext cx="7726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Substring search of the LLM's quote against parsed JSON. No fabricated pages.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438144"/>
            <a:ext cx="329184" cy="32918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438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401568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Two-tier verifier (regex + LLM judge)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3694176"/>
            <a:ext cx="7726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regex on numerics; tier 2 Haiku-4.5 judges with the FULL parsed paper as grounding.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329184" cy="32918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069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4032504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Random-effects pooling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4325112"/>
            <a:ext cx="7726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DerSimonian-Laird via statsmodels — pooled CI, I².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7777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Bierbyte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Sepsis Atlas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cell links to its bbox in the source PDF.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table — verifier badges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94360" y="2194560"/>
            <a:ext cx="3840480" cy="384048"/>
          </a:xfrm>
          <a:prstGeom prst="rect">
            <a:avLst/>
          </a:prstGeom>
          <a:solidFill>
            <a:srgbClr val="F5F5F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1945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SOFA score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40280" y="21945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 0.74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2267712"/>
            <a:ext cx="777240" cy="237744"/>
          </a:xfrm>
          <a:prstGeom prst="roundRect">
            <a:avLst>
              <a:gd name="adj" fmla="val 19231"/>
            </a:avLst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226771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25786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40280" y="25786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2.3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66160" y="2651760"/>
            <a:ext cx="777240" cy="237744"/>
          </a:xfrm>
          <a:prstGeom prst="roundRect">
            <a:avLst>
              <a:gd name="adj" fmla="val 19231"/>
            </a:avLst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65176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" y="2962656"/>
            <a:ext cx="3840480" cy="384048"/>
          </a:xfrm>
          <a:prstGeom prst="rect">
            <a:avLst/>
          </a:prstGeom>
          <a:solidFill>
            <a:srgbClr val="F5F5F2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9626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qSOFA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40280" y="296265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 0.68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66160" y="3035808"/>
            <a:ext cx="777240" cy="237744"/>
          </a:xfrm>
          <a:prstGeom prst="roundRect">
            <a:avLst>
              <a:gd name="adj" fmla="val 19231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3566160" y="303580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85800" y="33467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II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240280" y="334670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 0.72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66160" y="3419856"/>
            <a:ext cx="777240" cy="237744"/>
          </a:xfrm>
          <a:prstGeom prst="roundRect">
            <a:avLst>
              <a:gd name="adj" fmla="val 19231"/>
            </a:avLst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341985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3730752"/>
            <a:ext cx="3840480" cy="384048"/>
          </a:xfrm>
          <a:prstGeom prst="rect">
            <a:avLst/>
          </a:prstGeom>
          <a:solidFill>
            <a:srgbClr val="F5F5F2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7307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240280" y="37307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 0.62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66160" y="3803904"/>
            <a:ext cx="777240" cy="237744"/>
          </a:xfrm>
          <a:prstGeom prst="roundRect">
            <a:avLst>
              <a:gd name="adj" fmla="val 19231"/>
            </a:avLst>
          </a:prstGeom>
          <a:solidFill>
            <a:srgbClr val="B91C1C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380390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37760" y="1691640"/>
            <a:ext cx="374904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PDF · page 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66360" y="2194560"/>
            <a:ext cx="3108960" cy="54864"/>
          </a:xfrm>
          <a:prstGeom prst="rect">
            <a:avLst/>
          </a:prstGeom>
          <a:solidFill>
            <a:srgbClr val="D9D9D6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2441448"/>
            <a:ext cx="2743200" cy="54864"/>
          </a:xfrm>
          <a:prstGeom prst="rect">
            <a:avLst/>
          </a:prstGeom>
          <a:solidFill>
            <a:srgbClr val="D9D9D6"/>
          </a:solidFill>
          <a:ln/>
        </p:spPr>
      </p:sp>
      <p:sp>
        <p:nvSpPr>
          <p:cNvPr id="33" name="Shape 31"/>
          <p:cNvSpPr/>
          <p:nvPr/>
        </p:nvSpPr>
        <p:spPr>
          <a:xfrm>
            <a:off x="5166360" y="2688336"/>
            <a:ext cx="2926080" cy="54864"/>
          </a:xfrm>
          <a:prstGeom prst="rect">
            <a:avLst/>
          </a:prstGeom>
          <a:solidFill>
            <a:srgbClr val="D9D9D6"/>
          </a:solidFill>
          <a:ln/>
        </p:spPr>
      </p:sp>
      <p:sp>
        <p:nvSpPr>
          <p:cNvPr id="34" name="Shape 32"/>
          <p:cNvSpPr/>
          <p:nvPr/>
        </p:nvSpPr>
        <p:spPr>
          <a:xfrm>
            <a:off x="5166360" y="2935224"/>
            <a:ext cx="3108960" cy="54864"/>
          </a:xfrm>
          <a:prstGeom prst="rect">
            <a:avLst/>
          </a:prstGeom>
          <a:solidFill>
            <a:srgbClr val="D9D9D6"/>
          </a:solidFill>
          <a:ln/>
        </p:spPr>
      </p:sp>
      <p:sp>
        <p:nvSpPr>
          <p:cNvPr id="35" name="Shape 33"/>
          <p:cNvSpPr/>
          <p:nvPr/>
        </p:nvSpPr>
        <p:spPr>
          <a:xfrm>
            <a:off x="5166360" y="3429000"/>
            <a:ext cx="2926080" cy="54864"/>
          </a:xfrm>
          <a:prstGeom prst="rect">
            <a:avLst/>
          </a:prstGeom>
          <a:solidFill>
            <a:srgbClr val="D9D9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166360" y="3675888"/>
            <a:ext cx="3108960" cy="54864"/>
          </a:xfrm>
          <a:prstGeom prst="rect">
            <a:avLst/>
          </a:prstGeom>
          <a:solidFill>
            <a:srgbClr val="D9D9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166360" y="3922776"/>
            <a:ext cx="2743200" cy="54864"/>
          </a:xfrm>
          <a:prstGeom prst="rect">
            <a:avLst/>
          </a:prstGeom>
          <a:solidFill>
            <a:srgbClr val="D9D9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66360" y="4169664"/>
            <a:ext cx="2926080" cy="54864"/>
          </a:xfrm>
          <a:prstGeom prst="rect">
            <a:avLst/>
          </a:prstGeom>
          <a:solidFill>
            <a:srgbClr val="D9D9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486400" y="3108960"/>
            <a:ext cx="2377440" cy="201168"/>
          </a:xfrm>
          <a:prstGeom prst="rect">
            <a:avLst/>
          </a:prstGeom>
          <a:solidFill>
            <a:srgbClr val="FDE68A">
              <a:alpha val="7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32120" y="30906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 0.74 (95% CI 0.71–0.77)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7777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Bierbyte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Sepsis Atlas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77240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WITH THE JURY'S CRITERIA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satisfy each criterion.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5179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HALLUCINATION TOLERANCE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206240" y="149961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Separation Rule + two-tier verifier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801368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PER NUMBER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06240" y="18562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· bbox · verbatim span on every row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57984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31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EXTRACTION &amp; VERIFICATION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0" y="221284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extracts; Haiku judges with the full paper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87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&amp; REPRODUCIBLE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06240" y="25694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Substring anchor resolver — same input → same output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71216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44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/ SEMANTIC ALIGNMENT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206240" y="29260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Two-pass + cohort cross-check (no “right number, wrong cohort”)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2278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3009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 WORKFLOW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206240" y="328269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cell → exact bbox in the source PDF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584448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PAPERS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06240" y="36393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LLM — no separate translation layer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142232"/>
            <a:ext cx="8229600" cy="457200"/>
          </a:xfrm>
          <a:prstGeom prst="rect">
            <a:avLst/>
          </a:prstGeom>
          <a:solidFill>
            <a:srgbClr val="CCFBF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2336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 SCOPE   </a:t>
            </a:r>
            <a:pPr algn="ctr" indent="0" marL="0">
              <a:buNone/>
            </a:pPr>
            <a:r>
              <a:rPr lang="en-US" sz="9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 — baseline demonstrated   ·   UC3 — supported by schema   ·   UC2 — architecture generalises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7777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Bierbyte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Sepsis Atlas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7240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GENERALISES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API-first, everything else swappable.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402336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91640"/>
            <a:ext cx="54864" cy="12573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83794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API-first, frontend-agnostic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3657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exposes the database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 any frontend: Astro, OpenWebUI, dashboard, CLI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stays stable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402336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91640"/>
            <a:ext cx="54864" cy="12573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83794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 is optional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92040" y="2194560"/>
            <a:ext cx="3657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Queries: raw filters, fuzzy match, or NL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LLM does NL → JSON when wanted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can run fully offline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31820"/>
            <a:ext cx="402336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131820"/>
            <a:ext cx="54864" cy="12573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2781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Model-agnostic by design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" y="3634740"/>
            <a:ext cx="3657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is the contract, not the model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Sonnet for GPT, Haiku for any judge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Re-extract one column at a 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131820"/>
            <a:ext cx="402336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3131820"/>
            <a:ext cx="54864" cy="12573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32781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One-time preprocessing cost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92040" y="3634740"/>
            <a:ext cx="3657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once per paper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thereafter are essentially free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4 held-out papers (Gai, Seymour, Wang, Zhang)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 once at extract. Reuse forever.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7777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Bierbyte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Sepsis Atlas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7240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Sepsis Atlas</dc:title>
  <dc:subject>PptxGenJS Presentation</dc:subject>
  <dc:creator>Team Bierbyte · Frederick Ortmanns</dc:creator>
  <cp:lastModifiedBy>Team Bierbyte · Frederick Ortmanns</cp:lastModifiedBy>
  <cp:revision>1</cp:revision>
  <dcterms:created xsi:type="dcterms:W3CDTF">2026-05-08T08:47:04Z</dcterms:created>
  <dcterms:modified xsi:type="dcterms:W3CDTF">2026-05-08T08:47:04Z</dcterms:modified>
</cp:coreProperties>
</file>